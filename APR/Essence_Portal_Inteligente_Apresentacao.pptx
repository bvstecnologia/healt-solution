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abertura. Cumprimentar Dra. Rosane e Mateus. Tom: confiante mas acessível. 'Hoje vamos falar sobre o futuro da Essence — não sobre tecnologia, mas sobre oportunidade.'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PAUSA aqui. Deixar o número aterrissar. '1.138 pessoas que confiaram na Essence. Que vieram, que pagaram, que tiveram uma experiência.' Olhar nos olhos. 'Agora eu tenho uma pergunta.'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INTERAÇÃO. Fazer a pergunta e esperar. Deixar eles pensarem. Se falarem um número, anotar mentalmente. 'Quantos vocês acham? 100? 200? 300?' Não dar a resposta ainda. 'Vou mostrar.'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de impacto. Ler o número devagar. '4%. Menos de 46 pacientes.' PAUSA. 'Os outros 1.092... já vieram, já pagaram, já confiam na Essence...' PAUSA. '...e não recebem uma mensagem.' Deixar o silêncio trabalhar.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Apontar para cada card. 'Eles já confiam — check. Já têm histórico — check. Comunicação...' apontar para o X vermelho. 'Esse é o gap. Esse é o dinheiro que está na mesa.'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Apontar para cada cenário crescendo. NÃO comentar os números — deixar eles lerem sozinhos. PAUSA longa. Se alguém reagir, sorrir e dizer: 'E isso é conservador. Sem contar novos pacientes que vão entrando.' Deixar eles absorverem.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PAUSA. Ler a pergunta devagar. Esperar. Deixar eles pensarem e talvez responderem. Provavelmente vão falar 'falta de tempo', 'esqueceram', etc. Ouvir, concordar, e dizer: 'Tudo isso é verdade. Mas tem algo mais simples.' Próximo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Tom calmo, NÃO acusatório. 'A resposta é mais simples do que parece. Ninguém fala com eles.' PAUSA. 'Sem lembrete. Sem follow-up. Sem oferta.' PAUSA. Voz mais baixa: 'Eles não esqueceram da Essence. A Essence que esqueceu deles.' Deixar impactar. 'E se pudéssemos mudar isso?'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Tom esperançoso, empolgado. 'E se existisse um sistema...' pausa '...que falasse com CADA um desses 1.138 pacientes?' Apontar para as 3 palavras embaixo. 'Automaticamente. 24 horas. Sem contratar ninguém.' PAUSA. 'Nós construímos isso.'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Passar rápido pelas 3 colunas. NÃO entrar em detalhes técnicos. 'Três pilares. O paciente resolve tudo sozinho. A clínica gerencia em um único painel. O WhatsApp faz o trabalho repetitivo automaticamente — e de graça.' O objetivo é mostrar a BASE sólida sobre a qual tudo mais será construído.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Passar pela jornada passo a passo. 'O paciente recebe um lembrete no WhatsApp. Se quiser agendar, abre o portal — escolhe o serviço, o horário, paga. Confirma presença pelo WhatsApp. Chega na clínica e faz check-in.' PAUSA. 'Zero ligações. Zero espera. Zero trabalho manual.' Enfatizar que isso LIBERA o staff para o que importa.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'Isso tudo já funciona sozinho. Sem intervenção humana.' Passar rapidamente pelas automações. Enfatizar: 'Se a mensagem falhar, o sistema tenta de novo. Se o paciente não aparecer, marca falta automaticamente. Se cancelar em cima da hora, avisa que é tardio.' PAUSA. 'E o custo disso? Zero. Roda no nosso servidor.'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Tom de storytelling. 'Imaginem um funcionário dedicado...' passar pelos 4 atributos devagar. 'Conhece cada paciente pelo nome. Trabalha 24 horas. Nunca erra, nunca cansa. E custa menos que um salário mínimo.' PAUSA DRAMÁTICA. 'Esse funcionário já existe.' O conceito é: agente de IA + sincronização. Mas NÃO usar jargão técnico. É um 'funcionário digital'.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'O staff abre UM painel. Tudo aparece ali — agenda, pacientes, pagamentos, prescrições, labs. O sistema faz a sincronização nos bastidores.' NÃO entrar em detalhes do agente/webhooks. Manter simples: 'Tudo em um lugar. Vocês nunca precisam abrir duas telas.'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transição. Tom: empolgação contida. 'Agora vamos falar sobre o que acontece quando esse sistema começa a funcionar.' PAUSA. 'Quando 1.138 pacientes começam a receber comunicação... o que acontece?'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'Cada uma dessas caixas é uma porta de receita que hoje está fechada.' Passar rapidamente. 'Depósitos, serviços, pacotes, memberships, 73 produtos do inventário que ninguém pode comprar online...' PAUSA. Apontar para o bottom: 'Hoje, zero reais online. Amanhã, 24 horas por dia, 7 dias por semana.'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'Esses são os top 6 produtos por preço. Hair Formula — 100% de margem. BPC-157 — 63%.' Deixar eles olharem. 'São 73 produtos no total que ninguém pode comprar online. Cada venda online é receita pura — sem o custo de ter alguém no telefone ou presencialmente vendendo.' Deixar eles conectarem os pontos.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Lado a lado. NÃO explicar demais. 'À esquerda, o que custa. À direita, o que UMA fatura gera.' Deixar eles compararem. PAUSA. 'Uma fatura de Morpheus8 paga 5 meses de operação do sistema inteiro.' Não forçar. Eles vão conectar.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'Olhem a progressão.' Ir da esquerda para a direita. 'Hoje: 4% ativos. Ano 1: o funil começa a trabalhar. Ano 2-3: base cresce e o funil amadurece. Ano 5: 3.000+ pacientes — e o custo operacional é EXATAMENTE O MESMO.' PAUSA. 'O sistema escala sem contratar ninguém. É isso que chamamos de efeito multiplicador.'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direcionado para a Dra. Rosane. 'Dra. Rosane, hoje a senhora é médica E operadora da clínica. Staff confirmando consultas, cobrando presencialmente, seguindo pacientes manualmente...' apontar para a direita. 'Com o portal, tudo isso é automático. A senhora foca no que importa: a medicina.'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'Vou mostrar algo que vai mudar o dia a dia da Dra. Rosane.' Apontar para o celular. 'Termina a consulta. Manda uma mensagem: Fatura Maria Silva, Morpheus8. O sistema gera a fatura, manda o link pro WhatsApp da paciente. Ela paga pelo celular.' PAUSA. 'Sem papel, sem máquina, sem espera. Em 30 segundos.' Esse slide é para a Dra. Rosane sentir no dia a 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Tom prático. 'São 4 passos simples.' Passar por cada card rapidamente. 'Stripe para pagamentos, email para comunicações, Claude Max para o agente — $200 fixos que equivalem a $3.000 em API — e $30 de crédito na OpenAI pra memória.' PAUSA. 'Com isso, ativamos tudo. O portal, os pagamentos, o agente, o chatbot. Tudo.'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Ler cada linha devagar. '1.138 pacientes.' PAUSA. '$500 de ticket médio.' PAUSA. '96% sem comunicação.' PAUSA LONGA. Voz mais baixa: 'Um sistema que muda isso por $200 por mês.' PAUSA MAIS LONGA. Olhar nos olhos: 'O que vocês fariam?' Deixar o silêncio. NÃO responder. Deixar ELES responderem.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final. Não falar muito. Sorrir. 'O futuro da Essence já começou. Estamos prontos quando vocês estiverem.' PAUSA. Abrir para perguntas. Se não houver perguntas imediatas, perguntar: 'O que chamou mais a atenção de vocês?'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2563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spc="600" kern="0" dirty="0">
                <a:solidFill>
                  <a:srgbClr val="D49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ESSENCE MEDICAL CLINIC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Portal Inteligente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1371600" cy="36576"/>
          </a:xfrm>
          <a:prstGeom prst="rect">
            <a:avLst/>
          </a:prstGeom>
          <a:solidFill>
            <a:srgbClr val="92563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C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Estratégica  •  Fevereiro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92563E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8691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8C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DA ESSENCE HOJE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925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1.138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1371600" y="30175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já passaram pela Essence Medical Clinic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0" y="3931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anos de operação  •  Fort Lauderdale, FL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0" y="4572000"/>
            <a:ext cx="914400" cy="36576"/>
          </a:xfrm>
          <a:prstGeom prst="rect">
            <a:avLst/>
          </a:prstGeom>
          <a:solidFill>
            <a:srgbClr val="92563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Quantos desses pacientes</a:t>
            </a:r>
            <a:endParaRPr lang="en-US" sz="3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geraram receita esta semana?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828800" y="3840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49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Pensem num número.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D495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4%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371600" y="28346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de 46 pacientes geraram receita na última semana.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0" y="3840480"/>
            <a:ext cx="1828800" cy="27432"/>
          </a:xfrm>
          <a:prstGeom prst="rect">
            <a:avLst/>
          </a:prstGeom>
          <a:solidFill>
            <a:srgbClr val="92563E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41148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C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outros 1.092 não receberam uma mensagem sequer.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esses 96% já têm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23774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463040"/>
            <a:ext cx="237744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072" y="1737360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286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Confiança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27432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escolheram a Essence.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tiveram a experiência.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755648" y="3566160"/>
            <a:ext cx="329184" cy="3291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6"/>
          <p:cNvSpPr/>
          <p:nvPr/>
        </p:nvSpPr>
        <p:spPr>
          <a:xfrm>
            <a:off x="1755648" y="35661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383280" y="1463040"/>
            <a:ext cx="23774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83280" y="1463040"/>
            <a:ext cx="237744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1737360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2286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Histórico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566160" y="27432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pagaram.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têm perfil e dados.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407408" y="3566160"/>
            <a:ext cx="329184" cy="3291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2"/>
          <p:cNvSpPr/>
          <p:nvPr/>
        </p:nvSpPr>
        <p:spPr>
          <a:xfrm>
            <a:off x="4407408" y="35661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035040" y="1463040"/>
            <a:ext cx="23774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35040" y="1463040"/>
            <a:ext cx="2377440" cy="54864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2" y="1737360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17920" y="2286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Comunicação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6217920" y="27432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fala com eles.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follow-up.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7059168" y="3566160"/>
            <a:ext cx="329184" cy="3291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3" name="Text 18"/>
          <p:cNvSpPr/>
          <p:nvPr/>
        </p:nvSpPr>
        <p:spPr>
          <a:xfrm>
            <a:off x="7059168" y="35661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Faça as contas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9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médio por paciente: $500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1645920"/>
            <a:ext cx="2286000" cy="2377440"/>
          </a:xfrm>
          <a:prstGeom prst="rect">
            <a:avLst/>
          </a:prstGeom>
          <a:solidFill>
            <a:srgbClr val="92563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reativam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8F2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~114 pacientes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2004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$57.000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429000" y="1645920"/>
            <a:ext cx="2286000" cy="2377440"/>
          </a:xfrm>
          <a:prstGeom prst="rect">
            <a:avLst/>
          </a:prstGeom>
          <a:solidFill>
            <a:srgbClr val="92563E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783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429000" y="2377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reativam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2743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8F2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~228 pacientes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32004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$114.000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080760" y="1645920"/>
            <a:ext cx="2286000" cy="2377440"/>
          </a:xfrm>
          <a:prstGeom prst="rect">
            <a:avLst/>
          </a:prstGeom>
          <a:solidFill>
            <a:srgbClr val="92563E"/>
          </a:solidFill>
          <a:ln/>
        </p:spPr>
      </p:sp>
      <p:sp>
        <p:nvSpPr>
          <p:cNvPr id="15" name="Text 13"/>
          <p:cNvSpPr/>
          <p:nvPr/>
        </p:nvSpPr>
        <p:spPr>
          <a:xfrm>
            <a:off x="6080760" y="1783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080760" y="2377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reativam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80760" y="2743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8F2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~342 pacientes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80760" y="32004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$171.000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1440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C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trimestre. Sem contar novos pacientes.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400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impede 96% dos</a:t>
            </a:r>
            <a:endParaRPr lang="en-US" sz="3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3400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seus pacientes de voltar?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114800" y="3657600"/>
            <a:ext cx="914400" cy="36576"/>
          </a:xfrm>
          <a:prstGeom prst="rect">
            <a:avLst/>
          </a:prstGeom>
          <a:solidFill>
            <a:srgbClr val="92563E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0" y="3931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C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 antes de virar.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Ninguém fala com eles.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828800" y="22860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9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lembrete.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0" y="27432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9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follow-up.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828800" y="32004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9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oferta.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0" y="3840480"/>
            <a:ext cx="2743200" cy="27432"/>
          </a:xfrm>
          <a:prstGeom prst="rect">
            <a:avLst/>
          </a:prstGeom>
          <a:solidFill>
            <a:srgbClr val="92563E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39776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8C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Eles não esqueceram da Essence.</a:t>
            </a:r>
            <a:endParaRPr lang="en-US" sz="16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8C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Essence esqueceu deles.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9256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se...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600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...existisse um sistema que falasse</a:t>
            </a:r>
            <a:endParaRPr lang="en-US" sz="26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600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cada um desses pacientes?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05840" y="3566160"/>
            <a:ext cx="2194560" cy="457200"/>
          </a:xfrm>
          <a:prstGeom prst="rect">
            <a:avLst/>
          </a:prstGeom>
          <a:solidFill>
            <a:srgbClr val="2C1810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35661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Automaticamente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0" y="3566160"/>
            <a:ext cx="2194560" cy="457200"/>
          </a:xfrm>
          <a:prstGeom prst="rect">
            <a:avLst/>
          </a:prstGeom>
          <a:solidFill>
            <a:srgbClr val="2C1810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474720" y="35661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horas por dia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0" y="3566160"/>
            <a:ext cx="2194560" cy="457200"/>
          </a:xfrm>
          <a:prstGeom prst="rect">
            <a:avLst/>
          </a:prstGeom>
          <a:solidFill>
            <a:srgbClr val="2C1810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943600" y="35661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contratar ninguém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já existe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Construído em 5 semanas. No ar, funcionando, com a identidade visual da Essence.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23774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54480"/>
            <a:ext cx="54864" cy="3200400"/>
          </a:xfrm>
          <a:prstGeom prst="rect">
            <a:avLst/>
          </a:prstGeom>
          <a:solidFill>
            <a:srgbClr val="92563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830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240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Portal do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Paciente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2926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sozinho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60120" y="32735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serviços com preços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60120" y="362102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completo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60120" y="396849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Telehealth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60120" y="43159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Bilíngue PT/EN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83280" y="1554480"/>
            <a:ext cx="23774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83280" y="1554480"/>
            <a:ext cx="54864" cy="3200400"/>
          </a:xfrm>
          <a:prstGeom prst="rect">
            <a:avLst/>
          </a:prstGeom>
          <a:solidFill>
            <a:srgbClr val="92563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78308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57600" y="2240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Painel da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Clínica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657600" y="2926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 inteligente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657600" y="32735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pacientes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657600" y="362102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com 1 clique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657600" y="396849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+ no-show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657600" y="43159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Horários + bloqueios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080760" y="1554480"/>
            <a:ext cx="23774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080760" y="1554480"/>
            <a:ext cx="54864" cy="3200400"/>
          </a:xfrm>
          <a:prstGeom prst="rect">
            <a:avLst/>
          </a:prstGeom>
          <a:solidFill>
            <a:srgbClr val="92563E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783080"/>
            <a:ext cx="365760" cy="3657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355080" y="2240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WhatsApp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Inteligente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6355080" y="2926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Lembretes automáticos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6355080" y="32735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Confirmação de presença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6355080" y="362102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detection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6355080" y="396849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automático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6355080" y="43159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Custo: $0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experiência do paciente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paciente resolve tudo sem ligar para a clínica.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914400" cy="914400"/>
          </a:xfrm>
          <a:prstGeom prst="ellipse">
            <a:avLst/>
          </a:prstGeom>
          <a:solidFill>
            <a:srgbClr val="92563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7380" y="19202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7432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lembrete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3375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423160" y="1645920"/>
            <a:ext cx="914400" cy="914400"/>
          </a:xfrm>
          <a:prstGeom prst="ellipse">
            <a:avLst/>
          </a:prstGeom>
          <a:solidFill>
            <a:srgbClr val="92563E"/>
          </a:solidFill>
          <a:ln/>
        </p:spPr>
      </p:sp>
      <p:sp>
        <p:nvSpPr>
          <p:cNvPr id="10" name="Text 7"/>
          <p:cNvSpPr/>
          <p:nvPr/>
        </p:nvSpPr>
        <p:spPr>
          <a:xfrm>
            <a:off x="2423160" y="1645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020" y="19202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240280" y="27432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sozinho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240280" y="33375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114800" y="1645920"/>
            <a:ext cx="914400" cy="914400"/>
          </a:xfrm>
          <a:prstGeom prst="ellipse">
            <a:avLst/>
          </a:prstGeom>
          <a:solidFill>
            <a:srgbClr val="92563E"/>
          </a:solidFill>
          <a:ln/>
        </p:spPr>
      </p:sp>
      <p:sp>
        <p:nvSpPr>
          <p:cNvPr id="15" name="Text 11"/>
          <p:cNvSpPr/>
          <p:nvPr/>
        </p:nvSpPr>
        <p:spPr>
          <a:xfrm>
            <a:off x="4114800" y="1645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0660" y="192024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31920" y="27432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931920" y="33375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806440" y="1645920"/>
            <a:ext cx="914400" cy="914400"/>
          </a:xfrm>
          <a:prstGeom prst="ellipse">
            <a:avLst/>
          </a:prstGeom>
          <a:solidFill>
            <a:srgbClr val="92563E"/>
          </a:solidFill>
          <a:ln/>
        </p:spPr>
      </p:sp>
      <p:sp>
        <p:nvSpPr>
          <p:cNvPr id="20" name="Text 15"/>
          <p:cNvSpPr/>
          <p:nvPr/>
        </p:nvSpPr>
        <p:spPr>
          <a:xfrm>
            <a:off x="5806440" y="1645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192024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23560" y="27432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623560" y="33375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1645920"/>
            <a:ext cx="914400" cy="914400"/>
          </a:xfrm>
          <a:prstGeom prst="ellipse">
            <a:avLst/>
          </a:prstGeom>
          <a:solidFill>
            <a:srgbClr val="D4956B"/>
          </a:solidFill>
          <a:ln/>
        </p:spPr>
      </p:sp>
      <p:sp>
        <p:nvSpPr>
          <p:cNvPr id="25" name="Text 19"/>
          <p:cNvSpPr/>
          <p:nvPr/>
        </p:nvSpPr>
        <p:spPr>
          <a:xfrm>
            <a:off x="7498080" y="1645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26" name="Text 20"/>
          <p:cNvSpPr/>
          <p:nvPr/>
        </p:nvSpPr>
        <p:spPr>
          <a:xfrm>
            <a:off x="7315200" y="27432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7315200" y="33375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1371600" y="3931920"/>
            <a:ext cx="6400800" cy="731520"/>
          </a:xfrm>
          <a:prstGeom prst="rect">
            <a:avLst/>
          </a:prstGeom>
          <a:solidFill>
            <a:srgbClr val="FFF8F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1371600" y="39319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2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ligações  •  Zero espera  •  Zero trabalho manual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57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365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WhatsApp — o que já funciona sozinho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731520" y="1097280"/>
            <a:ext cx="3657600" cy="438912"/>
          </a:xfrm>
          <a:prstGeom prst="rect">
            <a:avLst/>
          </a:prstGeom>
          <a:solidFill>
            <a:srgbClr val="92563E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868680" y="1097280"/>
            <a:ext cx="365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280160" y="109728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Lembrete 24h antes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31520" y="1645920"/>
            <a:ext cx="3657600" cy="438912"/>
          </a:xfrm>
          <a:prstGeom prst="rect">
            <a:avLst/>
          </a:prstGeom>
          <a:solidFill>
            <a:srgbClr val="92563E">
              <a:alpha val="3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645920"/>
            <a:ext cx="365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80160" y="164592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Lembrete 1h antes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1520" y="2194560"/>
            <a:ext cx="3657600" cy="438912"/>
          </a:xfrm>
          <a:prstGeom prst="rect">
            <a:avLst/>
          </a:prstGeom>
          <a:solidFill>
            <a:srgbClr val="92563E">
              <a:alpha val="3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194560"/>
            <a:ext cx="365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80160" y="219456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Lembrete 15 min antes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31520" y="2743200"/>
            <a:ext cx="3657600" cy="438912"/>
          </a:xfrm>
          <a:prstGeom prst="rect">
            <a:avLst/>
          </a:prstGeom>
          <a:solidFill>
            <a:srgbClr val="92563E">
              <a:alpha val="3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2743200"/>
            <a:ext cx="365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80160" y="274320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Lembrete para o médico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31520" y="3291840"/>
            <a:ext cx="3657600" cy="438912"/>
          </a:xfrm>
          <a:prstGeom prst="rect">
            <a:avLst/>
          </a:prstGeom>
          <a:solidFill>
            <a:srgbClr val="92563E">
              <a:alpha val="3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" y="3291840"/>
            <a:ext cx="365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80160" y="329184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Confirmação de presença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754880" y="1097280"/>
            <a:ext cx="3657600" cy="438912"/>
          </a:xfrm>
          <a:prstGeom prst="rect">
            <a:avLst/>
          </a:prstGeom>
          <a:solidFill>
            <a:srgbClr val="92563E">
              <a:alpha val="3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4892040" y="1097280"/>
            <a:ext cx="365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303520" y="109728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automático (30 min)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754880" y="1645920"/>
            <a:ext cx="3657600" cy="438912"/>
          </a:xfrm>
          <a:prstGeom prst="rect">
            <a:avLst/>
          </a:prstGeom>
          <a:solidFill>
            <a:srgbClr val="92563E">
              <a:alpha val="30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4892040" y="1645920"/>
            <a:ext cx="365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303520" y="164592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Notificação de falta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754880" y="2194560"/>
            <a:ext cx="3657600" cy="438912"/>
          </a:xfrm>
          <a:prstGeom prst="rect">
            <a:avLst/>
          </a:prstGeom>
          <a:solidFill>
            <a:srgbClr val="92563E">
              <a:alpha val="30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4892040" y="2194560"/>
            <a:ext cx="365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303520" y="219456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Cancelamento inteligente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754880" y="2743200"/>
            <a:ext cx="3657600" cy="438912"/>
          </a:xfrm>
          <a:prstGeom prst="rect">
            <a:avLst/>
          </a:prstGeom>
          <a:solidFill>
            <a:srgbClr val="92563E">
              <a:alpha val="30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4892040" y="2743200"/>
            <a:ext cx="365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5303520" y="274320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até 3x se falhar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4754880" y="3291840"/>
            <a:ext cx="3657600" cy="438912"/>
          </a:xfrm>
          <a:prstGeom prst="rect">
            <a:avLst/>
          </a:prstGeom>
          <a:solidFill>
            <a:srgbClr val="92563E">
              <a:alpha val="30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4892040" y="3291840"/>
            <a:ext cx="365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5303520" y="329184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Bilíngue (PT + EN)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2286000" y="4114800"/>
            <a:ext cx="4572000" cy="640080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35" name="Text 32"/>
          <p:cNvSpPr/>
          <p:nvPr/>
        </p:nvSpPr>
        <p:spPr>
          <a:xfrm>
            <a:off x="2286000" y="41148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 mensal do WhatsApp:  $0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2743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2801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funcionário que nunca dorme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1097280" y="2194560"/>
            <a:ext cx="640080" cy="640080"/>
          </a:xfrm>
          <a:prstGeom prst="ellipse">
            <a:avLst/>
          </a:prstGeom>
          <a:solidFill>
            <a:srgbClr val="92563E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331720"/>
            <a:ext cx="365760" cy="365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30175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Conhece cada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dos 1.138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3200400" y="2194560"/>
            <a:ext cx="640080" cy="640080"/>
          </a:xfrm>
          <a:prstGeom prst="ellipse">
            <a:avLst/>
          </a:prstGeom>
          <a:solidFill>
            <a:srgbClr val="92563E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2331720"/>
            <a:ext cx="365760" cy="365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606040" y="30175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Trabalha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horas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dias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5303520" y="2194560"/>
            <a:ext cx="640080" cy="640080"/>
          </a:xfrm>
          <a:prstGeom prst="ellipse">
            <a:avLst/>
          </a:prstGeom>
          <a:solidFill>
            <a:srgbClr val="92563E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2331720"/>
            <a:ext cx="365760" cy="3657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709160" y="30175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erra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cansa</a:t>
            </a:r>
            <a:endParaRPr lang="en-US" sz="1300" dirty="0"/>
          </a:p>
        </p:txBody>
      </p:sp>
      <p:sp>
        <p:nvSpPr>
          <p:cNvPr id="13" name="Shape 7"/>
          <p:cNvSpPr/>
          <p:nvPr/>
        </p:nvSpPr>
        <p:spPr>
          <a:xfrm>
            <a:off x="7406640" y="2194560"/>
            <a:ext cx="640080" cy="640080"/>
          </a:xfrm>
          <a:prstGeom prst="ellipse">
            <a:avLst/>
          </a:prstGeom>
          <a:solidFill>
            <a:srgbClr val="92563E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0" y="2331720"/>
            <a:ext cx="365760" cy="36576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812280" y="30175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Custa menos que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salário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3200400" y="4206240"/>
            <a:ext cx="2743200" cy="27432"/>
          </a:xfrm>
          <a:prstGeom prst="rect">
            <a:avLst/>
          </a:prstGeom>
          <a:solidFill>
            <a:srgbClr val="D4956B"/>
          </a:solidFill>
          <a:ln/>
        </p:spPr>
      </p:sp>
      <p:sp>
        <p:nvSpPr>
          <p:cNvPr id="17" name="Text 10"/>
          <p:cNvSpPr/>
          <p:nvPr/>
        </p:nvSpPr>
        <p:spPr>
          <a:xfrm>
            <a:off x="1828800" y="4389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495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Esse funcionário já existe.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Tudo em um lugar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Vocês abrem um único painel. O resto acontece nos bastidores.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0" y="1554480"/>
            <a:ext cx="3657600" cy="731520"/>
          </a:xfrm>
          <a:prstGeom prst="rect">
            <a:avLst/>
          </a:prstGeom>
          <a:solidFill>
            <a:srgbClr val="92563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0" y="15544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PORTAL ESSENCE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606040"/>
            <a:ext cx="292608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6060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completa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703320" y="2807208"/>
            <a:ext cx="457200" cy="54864"/>
          </a:xfrm>
          <a:prstGeom prst="rect">
            <a:avLst/>
          </a:prstGeom>
          <a:solidFill>
            <a:srgbClr val="92563E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3200400"/>
            <a:ext cx="292608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3200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do paciente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03320" y="3401568"/>
            <a:ext cx="457200" cy="54864"/>
          </a:xfrm>
          <a:prstGeom prst="rect">
            <a:avLst/>
          </a:prstGeom>
          <a:solidFill>
            <a:srgbClr val="92563E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3794760"/>
            <a:ext cx="292608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794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703320" y="3995928"/>
            <a:ext cx="457200" cy="54864"/>
          </a:xfrm>
          <a:prstGeom prst="rect">
            <a:avLst/>
          </a:prstGeom>
          <a:solidFill>
            <a:srgbClr val="92563E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0" y="2606040"/>
            <a:ext cx="292608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0" y="26060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Prescrições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983480" y="2807208"/>
            <a:ext cx="457200" cy="54864"/>
          </a:xfrm>
          <a:prstGeom prst="rect">
            <a:avLst/>
          </a:prstGeom>
          <a:solidFill>
            <a:srgbClr val="92563E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0" y="3200400"/>
            <a:ext cx="292608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0" y="3200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 labs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83480" y="3401568"/>
            <a:ext cx="457200" cy="54864"/>
          </a:xfrm>
          <a:prstGeom prst="rect">
            <a:avLst/>
          </a:prstGeom>
          <a:solidFill>
            <a:srgbClr val="92563E">
              <a:alpha val="6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0" y="3794760"/>
            <a:ext cx="292608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0" y="3794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Lembretes enviados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983480" y="3995928"/>
            <a:ext cx="457200" cy="54864"/>
          </a:xfrm>
          <a:prstGeom prst="rect">
            <a:avLst/>
          </a:prstGeom>
          <a:solidFill>
            <a:srgbClr val="92563E">
              <a:alpha val="6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297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C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alguém abrir o OptiMantra diretamente, os dados continuam sincronizados nos dois sentidos.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9256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portas que se abrem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371600" y="23774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sistema fala com 1.138 pacientes,</a:t>
            </a:r>
            <a:endParaRPr lang="en-US" sz="2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acontece?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Receita online — 24 horas por dia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23774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80160"/>
            <a:ext cx="2377440" cy="45720"/>
          </a:xfrm>
          <a:prstGeom prst="rect">
            <a:avLst/>
          </a:prstGeom>
          <a:solidFill>
            <a:srgbClr val="92563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Depósitos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$50–100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agendamento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1280160"/>
            <a:ext cx="23774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383280" y="1280160"/>
            <a:ext cx="2377440" cy="45720"/>
          </a:xfrm>
          <a:prstGeom prst="rect">
            <a:avLst/>
          </a:prstGeom>
          <a:solidFill>
            <a:srgbClr val="92563E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1463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Serviços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66160" y="18745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$350–1.000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sessão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1280160"/>
            <a:ext cx="23774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35040" y="1280160"/>
            <a:ext cx="2377440" cy="45720"/>
          </a:xfrm>
          <a:prstGeom prst="rect">
            <a:avLst/>
          </a:prstGeom>
          <a:solidFill>
            <a:srgbClr val="D4956B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463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Pacotes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17920" y="18745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$1.200–3.500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sessões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2926080"/>
            <a:ext cx="23774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2926080"/>
            <a:ext cx="2377440" cy="45720"/>
          </a:xfrm>
          <a:prstGeom prst="rect">
            <a:avLst/>
          </a:prstGeom>
          <a:solidFill>
            <a:srgbClr val="D4956B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108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Memberships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35204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$79–299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mês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83280" y="2926080"/>
            <a:ext cx="23774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83280" y="2926080"/>
            <a:ext cx="2377440" cy="457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21" name="Text 19"/>
          <p:cNvSpPr/>
          <p:nvPr/>
        </p:nvSpPr>
        <p:spPr>
          <a:xfrm>
            <a:off x="3566160" y="3108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Suplementos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566160" y="35204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produtos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inventário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035040" y="2926080"/>
            <a:ext cx="23774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35040" y="2926080"/>
            <a:ext cx="2377440" cy="457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3108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Follow-up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17920" y="35204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7/30/90 dias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automático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097280" y="4297680"/>
            <a:ext cx="6949440" cy="548640"/>
          </a:xfrm>
          <a:prstGeom prst="rect">
            <a:avLst/>
          </a:prstGeom>
          <a:solidFill>
            <a:srgbClr val="2C1810"/>
          </a:solidFill>
          <a:ln/>
        </p:spPr>
      </p:sp>
      <p:sp>
        <p:nvSpPr>
          <p:cNvPr id="28" name="Text 26"/>
          <p:cNvSpPr/>
          <p:nvPr/>
        </p:nvSpPr>
        <p:spPr>
          <a:xfrm>
            <a:off x="1097280" y="429768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9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a clínica fatura $0 online. Amanhã: 24/7, dormindo.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catálogo escondido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produtos no inventário da Essence que ninguém pode comprar online.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1554480"/>
            <a:ext cx="7315200" cy="457200"/>
          </a:xfrm>
          <a:prstGeom prst="rect">
            <a:avLst/>
          </a:prstGeom>
          <a:solidFill>
            <a:srgbClr val="2C1810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5544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0" y="1554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0" y="1554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011680"/>
            <a:ext cx="73152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0116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BPC-157/TB-500/GHK-Cu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2011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0" y="2121408"/>
            <a:ext cx="691286" cy="201168"/>
          </a:xfrm>
          <a:prstGeom prst="rect">
            <a:avLst/>
          </a:prstGeom>
          <a:solidFill>
            <a:srgbClr val="10B981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2011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2423160"/>
            <a:ext cx="7315200" cy="411480"/>
          </a:xfrm>
          <a:prstGeom prst="rect">
            <a:avLst/>
          </a:prstGeom>
          <a:solidFill>
            <a:srgbClr val="F0EDE8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24231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CJC/Ipamorelin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2423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0" y="2532888"/>
            <a:ext cx="548640" cy="201168"/>
          </a:xfrm>
          <a:prstGeom prst="rect">
            <a:avLst/>
          </a:prstGeom>
          <a:solidFill>
            <a:srgbClr val="10B981">
              <a:alpha val="7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423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" y="2834640"/>
            <a:ext cx="73152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28346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Panel (F)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2834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0" y="2944368"/>
            <a:ext cx="395021" cy="201168"/>
          </a:xfrm>
          <a:prstGeom prst="rect">
            <a:avLst/>
          </a:prstGeom>
          <a:solidFill>
            <a:srgbClr val="10B981">
              <a:alpha val="7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4400" y="3246120"/>
            <a:ext cx="7315200" cy="411480"/>
          </a:xfrm>
          <a:prstGeom prst="rect">
            <a:avLst/>
          </a:prstGeom>
          <a:solidFill>
            <a:srgbClr val="F0EDE8"/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3246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Panel (M)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0" y="32461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83680" y="3355848"/>
            <a:ext cx="438912" cy="201168"/>
          </a:xfrm>
          <a:prstGeom prst="rect">
            <a:avLst/>
          </a:prstGeom>
          <a:solidFill>
            <a:srgbClr val="10B981">
              <a:alpha val="7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3246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4400" y="3657600"/>
            <a:ext cx="73152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1097280" y="36576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GHK-Cu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0" y="36576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83680" y="3767328"/>
            <a:ext cx="570586" cy="201168"/>
          </a:xfrm>
          <a:prstGeom prst="rect">
            <a:avLst/>
          </a:prstGeom>
          <a:solidFill>
            <a:srgbClr val="10B981">
              <a:alpha val="7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3657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14400" y="4069080"/>
            <a:ext cx="7315200" cy="411480"/>
          </a:xfrm>
          <a:prstGeom prst="rect">
            <a:avLst/>
          </a:prstGeom>
          <a:solidFill>
            <a:srgbClr val="F0EDE8"/>
          </a:solidFill>
          <a:ln/>
        </p:spPr>
      </p:sp>
      <p:sp>
        <p:nvSpPr>
          <p:cNvPr id="34" name="Text 32"/>
          <p:cNvSpPr/>
          <p:nvPr/>
        </p:nvSpPr>
        <p:spPr>
          <a:xfrm>
            <a:off x="1097280" y="4069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 Formula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0" y="4069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583680" y="4178808"/>
            <a:ext cx="1097280" cy="201168"/>
          </a:xfrm>
          <a:prstGeom prst="rect">
            <a:avLst/>
          </a:prstGeom>
          <a:solidFill>
            <a:srgbClr val="10B981">
              <a:alpha val="7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0" y="40690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14400" y="4206240"/>
            <a:ext cx="7315200" cy="640080"/>
          </a:xfrm>
          <a:prstGeom prst="rect">
            <a:avLst/>
          </a:prstGeom>
          <a:solidFill>
            <a:srgbClr val="FFF8F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097280" y="420624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Hoje: </a:t>
            </a:r>
            <a:pPr algn="ctr" indent="0" marL="0">
              <a:buNone/>
            </a:pPr>
            <a:r>
              <a:rPr lang="en-US" sz="15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em vendas online     </a:t>
            </a:r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Amanhã: </a:t>
            </a:r>
            <a:pPr algn="ctr" indent="0" marL="0">
              <a:buNone/>
            </a:pPr>
            <a:r>
              <a:rPr lang="en-US" sz="15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limite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investimento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40480" cy="3200400"/>
          </a:xfrm>
          <a:prstGeom prst="rect">
            <a:avLst/>
          </a:prstGeom>
          <a:solidFill>
            <a:srgbClr val="92563E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D49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CUSTA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inteligente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17520" y="17830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9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$200/mês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22199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Pagamentos (Stripe)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17520" y="222199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9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2.9% por transação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66090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(Gmail)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0" y="266090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9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09981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309981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9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5387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+ servidor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17520" y="353872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9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ativo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1097280"/>
            <a:ext cx="3840480" cy="3200400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188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ÚNICA FATURA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17830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Morpheus8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32320" y="17830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$1.000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22219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Pacote IV Therapy (6x)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32320" y="222199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$1.200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0" y="266090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NAD+ Therapy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32320" y="266090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309981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BPC-157 (produto)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32320" y="309981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0" y="353872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VIP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32320" y="353872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$299/mês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371600" y="4434840"/>
            <a:ext cx="6400800" cy="502920"/>
          </a:xfrm>
          <a:prstGeom prst="rect">
            <a:avLst/>
          </a:prstGeom>
          <a:solidFill>
            <a:srgbClr val="D4956B">
              <a:alpha val="3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371600" y="44348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95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fatura de Morpheus8 paga 5 meses de operação.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efeito multiplicador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97280" y="2514600"/>
            <a:ext cx="6949440" cy="36576"/>
          </a:xfrm>
          <a:prstGeom prst="rect">
            <a:avLst/>
          </a:prstGeom>
          <a:solidFill>
            <a:srgbClr val="92563E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2331720"/>
            <a:ext cx="365760" cy="365760"/>
          </a:xfrm>
          <a:prstGeom prst="ellipse">
            <a:avLst/>
          </a:prstGeom>
          <a:solidFill>
            <a:srgbClr val="8C8B8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463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C8B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Hoje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2926080"/>
            <a:ext cx="1828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926080"/>
            <a:ext cx="1828800" cy="45720"/>
          </a:xfrm>
          <a:prstGeom prst="rect">
            <a:avLst/>
          </a:prstGeom>
          <a:solidFill>
            <a:srgbClr val="8C8B8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306324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1.138 pacientes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 ativos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manual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2331720"/>
            <a:ext cx="365760" cy="365760"/>
          </a:xfrm>
          <a:prstGeom prst="ellipse">
            <a:avLst/>
          </a:prstGeom>
          <a:solidFill>
            <a:srgbClr val="D4956B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1463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95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 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560320" y="2926080"/>
            <a:ext cx="1828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2926080"/>
            <a:ext cx="1828800" cy="45720"/>
          </a:xfrm>
          <a:prstGeom prst="rect">
            <a:avLst/>
          </a:prstGeom>
          <a:solidFill>
            <a:srgbClr val="D4956B"/>
          </a:solidFill>
          <a:ln/>
        </p:spPr>
      </p:sp>
      <p:sp>
        <p:nvSpPr>
          <p:cNvPr id="13" name="Text 11"/>
          <p:cNvSpPr/>
          <p:nvPr/>
        </p:nvSpPr>
        <p:spPr>
          <a:xfrm>
            <a:off x="2697480" y="306324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15-20% reativação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Funil automático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 online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0" y="2331720"/>
            <a:ext cx="365760" cy="365760"/>
          </a:xfrm>
          <a:prstGeom prst="ellipse">
            <a:avLst/>
          </a:prstGeom>
          <a:solidFill>
            <a:srgbClr val="92563E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463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25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 2-3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1828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926080"/>
            <a:ext cx="1828800" cy="45720"/>
          </a:xfrm>
          <a:prstGeom prst="rect">
            <a:avLst/>
          </a:prstGeom>
          <a:solidFill>
            <a:srgbClr val="92563E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306324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crescendo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Funil maduro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 automático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680960" y="2331720"/>
            <a:ext cx="365760" cy="365760"/>
          </a:xfrm>
          <a:prstGeom prst="ellipse">
            <a:avLst/>
          </a:prstGeom>
          <a:solidFill>
            <a:srgbClr val="2C1810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0" y="1463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 5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949440" y="2926080"/>
            <a:ext cx="1828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49440" y="2926080"/>
            <a:ext cx="1828800" cy="45720"/>
          </a:xfrm>
          <a:prstGeom prst="rect">
            <a:avLst/>
          </a:prstGeom>
          <a:solidFill>
            <a:srgbClr val="2C1810"/>
          </a:solidFill>
          <a:ln/>
        </p:spPr>
      </p:sp>
      <p:sp>
        <p:nvSpPr>
          <p:cNvPr id="23" name="Text 21"/>
          <p:cNvSpPr/>
          <p:nvPr/>
        </p:nvSpPr>
        <p:spPr>
          <a:xfrm>
            <a:off x="7086600" y="306324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3.000+ pacientes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custo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recorrente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925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custo é o mesmo para 1.000 ou 5.000 pacientes.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para a Dra. Rosane?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C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operação, mais medicina.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840480" cy="2926080"/>
          </a:xfrm>
          <a:prstGeom prst="rect">
            <a:avLst/>
          </a:prstGeom>
          <a:solidFill>
            <a:srgbClr val="F0EDE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8C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liga para confirmar consultas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Pagamentos só presencial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follow-up automatizado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 dos pacientes sem contato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794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presos no OptiMantra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554480"/>
            <a:ext cx="38404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554480"/>
            <a:ext cx="3840480" cy="45720"/>
          </a:xfrm>
          <a:prstGeom prst="rect">
            <a:avLst/>
          </a:prstGeom>
          <a:solidFill>
            <a:srgbClr val="92563E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691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92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PORTAL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2194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confirma automaticamente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2606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Pagamentos online + presencial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3017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7/30/90 dias automático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3429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1.138 pacientes no funil ativo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3840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em um painel unificado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Faturar em 30 segundos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médico termina a consulta e manda uma mensagem.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71600" y="1463040"/>
            <a:ext cx="2926080" cy="3017520"/>
          </a:xfrm>
          <a:prstGeom prst="rect">
            <a:avLst/>
          </a:prstGeom>
          <a:solidFill>
            <a:srgbClr val="1A3A2A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1463040"/>
            <a:ext cx="2926080" cy="365760"/>
          </a:xfrm>
          <a:prstGeom prst="rect">
            <a:avLst/>
          </a:prstGeom>
          <a:solidFill>
            <a:srgbClr val="075E54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1463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Essence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0" y="2011680"/>
            <a:ext cx="2103120" cy="457200"/>
          </a:xfrm>
          <a:prstGeom prst="rect">
            <a:avLst/>
          </a:prstGeom>
          <a:solidFill>
            <a:srgbClr val="DCF8C6"/>
          </a:solidFill>
          <a:ln/>
        </p:spPr>
      </p:sp>
      <p:sp>
        <p:nvSpPr>
          <p:cNvPr id="8" name="Text 6"/>
          <p:cNvSpPr/>
          <p:nvPr/>
        </p:nvSpPr>
        <p:spPr>
          <a:xfrm>
            <a:off x="2103120" y="2011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 Maria Silva, Morpheus8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554480" y="2651760"/>
            <a:ext cx="2286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645920" y="26517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Fatura criada: $1.000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Link enviado para a paciente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Pagamento pendente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554480" y="3657600"/>
            <a:ext cx="22860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645920" y="3657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 pagou $1.000 via Stripe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120640" y="1463040"/>
            <a:ext cx="365760" cy="365760"/>
          </a:xfrm>
          <a:prstGeom prst="ellipse">
            <a:avLst/>
          </a:prstGeom>
          <a:solidFill>
            <a:srgbClr val="92563E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0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 manda mensagem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WhatsApp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120640" y="2148840"/>
            <a:ext cx="365760" cy="365760"/>
          </a:xfrm>
          <a:prstGeom prst="ellipse">
            <a:avLst/>
          </a:prstGeom>
          <a:solidFill>
            <a:srgbClr val="92563E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69280" y="2103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gera fatura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Stripe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120640" y="2834640"/>
            <a:ext cx="365760" cy="365760"/>
          </a:xfrm>
          <a:prstGeom prst="ellipse">
            <a:avLst/>
          </a:prstGeom>
          <a:solidFill>
            <a:srgbClr val="92563E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6928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de pagamento vai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WhatsApp da paciente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120640" y="3520440"/>
            <a:ext cx="365760" cy="365760"/>
          </a:xfrm>
          <a:prstGeom prst="ellipse">
            <a:avLst/>
          </a:prstGeom>
          <a:solidFill>
            <a:srgbClr val="92563E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0" y="3474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 paga pelo celular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30 segundos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4114800"/>
            <a:ext cx="3931920" cy="27432"/>
          </a:xfrm>
          <a:prstGeom prst="rect">
            <a:avLst/>
          </a:prstGeom>
          <a:solidFill>
            <a:srgbClr val="D4956B">
              <a:alpha val="5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42519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D49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papel. Sem máquina. Sem espera.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precisamos de vocês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passos simples para ativar tudo.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34340" y="1554480"/>
            <a:ext cx="18288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4420" y="1737360"/>
            <a:ext cx="548640" cy="548640"/>
          </a:xfrm>
          <a:prstGeom prst="ellipse">
            <a:avLst/>
          </a:prstGeom>
          <a:solidFill>
            <a:srgbClr val="92563E"/>
          </a:solidFill>
          <a:ln/>
        </p:spPr>
      </p:sp>
      <p:sp>
        <p:nvSpPr>
          <p:cNvPr id="6" name="Text 4"/>
          <p:cNvSpPr/>
          <p:nvPr/>
        </p:nvSpPr>
        <p:spPr>
          <a:xfrm>
            <a:off x="107442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71500" y="24231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 Stripe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71500" y="283464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Pagamentos online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1500" y="35204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stripe.com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83180" y="1554480"/>
            <a:ext cx="18288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3260" y="1737360"/>
            <a:ext cx="548640" cy="548640"/>
          </a:xfrm>
          <a:prstGeom prst="ellipse">
            <a:avLst/>
          </a:prstGeom>
          <a:solidFill>
            <a:srgbClr val="92563E"/>
          </a:solidFill>
          <a:ln/>
        </p:spPr>
      </p:sp>
      <p:sp>
        <p:nvSpPr>
          <p:cNvPr id="12" name="Text 10"/>
          <p:cNvSpPr/>
          <p:nvPr/>
        </p:nvSpPr>
        <p:spPr>
          <a:xfrm>
            <a:off x="322326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20340" y="24231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Email da clínica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20340" y="283464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Recibos, follow-ups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boas-vindas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20340" y="35204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/ credenciais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32020" y="1554480"/>
            <a:ext cx="18288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72100" y="1737360"/>
            <a:ext cx="548640" cy="548640"/>
          </a:xfrm>
          <a:prstGeom prst="ellipse">
            <a:avLst/>
          </a:prstGeom>
          <a:solidFill>
            <a:srgbClr val="92563E"/>
          </a:solidFill>
          <a:ln/>
        </p:spPr>
      </p:sp>
      <p:sp>
        <p:nvSpPr>
          <p:cNvPr id="18" name="Text 16"/>
          <p:cNvSpPr/>
          <p:nvPr/>
        </p:nvSpPr>
        <p:spPr>
          <a:xfrm>
            <a:off x="537210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869180" y="24231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Max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69180" y="283464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inteligente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chatbot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69180" y="35204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$200/mês fixo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80860" y="1554480"/>
            <a:ext cx="18288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20940" y="1737360"/>
            <a:ext cx="548640" cy="548640"/>
          </a:xfrm>
          <a:prstGeom prst="ellipse">
            <a:avLst/>
          </a:prstGeom>
          <a:solidFill>
            <a:srgbClr val="92563E"/>
          </a:solidFill>
          <a:ln/>
        </p:spPr>
      </p:sp>
      <p:sp>
        <p:nvSpPr>
          <p:cNvPr id="24" name="Text 22"/>
          <p:cNvSpPr/>
          <p:nvPr/>
        </p:nvSpPr>
        <p:spPr>
          <a:xfrm>
            <a:off x="752094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018020" y="24231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 OpenAI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018020" y="283464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 do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18020" y="35204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 (crédito inicial)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371600" y="4343400"/>
            <a:ext cx="6400800" cy="502920"/>
          </a:xfrm>
          <a:prstGeom prst="rect">
            <a:avLst/>
          </a:prstGeom>
          <a:solidFill>
            <a:srgbClr val="FFF8F2"/>
          </a:solidFill>
          <a:ln/>
        </p:spPr>
      </p:sp>
      <p:sp>
        <p:nvSpPr>
          <p:cNvPr id="29" name="Text 27"/>
          <p:cNvSpPr/>
          <p:nvPr/>
        </p:nvSpPr>
        <p:spPr>
          <a:xfrm>
            <a:off x="1371600" y="43434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25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 isso na mão, ativamos tudo.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495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1.138 pacientes.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495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$500 de ticket médio.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495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96% sem comunicação.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0" y="2743200"/>
            <a:ext cx="1828800" cy="27432"/>
          </a:xfrm>
          <a:prstGeom prst="rect">
            <a:avLst/>
          </a:prstGeom>
          <a:solidFill>
            <a:srgbClr val="92563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017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sistema que muda isso por $200/mês.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3840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vocês fariam?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256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600" kern="0" dirty="0">
                <a:solidFill>
                  <a:srgbClr val="D49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ESSENCE MEDICAL CLINIC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futuro já começou.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840480" y="3200400"/>
            <a:ext cx="1463040" cy="36576"/>
          </a:xfrm>
          <a:prstGeom prst="rect">
            <a:avLst/>
          </a:prstGeom>
          <a:solidFill>
            <a:srgbClr val="92563E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3474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C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health begins with your essence.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92563E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8691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portal.essencemedicalclinic.com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Essence Medical Clinic — Portal Inteligente</dc:title>
  <dc:subject>PptxGenJS Presentation</dc:subject>
  <dc:creator>Essence Medical Clinic</dc:creator>
  <cp:lastModifiedBy>Essence Medical Clinic</cp:lastModifiedBy>
  <cp:revision>1</cp:revision>
  <dcterms:created xsi:type="dcterms:W3CDTF">2026-02-12T22:38:31Z</dcterms:created>
  <dcterms:modified xsi:type="dcterms:W3CDTF">2026-02-12T22:38:31Z</dcterms:modified>
</cp:coreProperties>
</file>